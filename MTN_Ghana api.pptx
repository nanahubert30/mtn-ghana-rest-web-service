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3.xml.rels" ContentType="application/vnd.openxmlformats-package.relationships+xml"/>
  <Override PartName="/ppt/slides/_rels/slide1.xml.rels" ContentType="application/vnd.openxmlformats-package.relationships+xml"/>
  <Override PartName="/ppt/slides/slide12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1AE784-A9FD-4198-BB66-673A1F28B54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D660515-BD89-454C-BF38-969A0F1C24E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908F75-B540-4561-A724-210D1142151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A9F8377-A895-45A8-AD3F-13F95CF039C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883F53-2D67-40D6-9BEC-FDBC6BC7F75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F98A603-7E16-4CBB-B2A5-58EDB57BB1F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D56BD8-A9F5-4F3D-AB33-19D949177AA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67C4EC-2E71-42E7-A509-9CE259DFAA8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2FE423-15D0-452E-898F-1C7F5E1F532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2900B3-AAB6-46C3-9BDD-43E128B1F51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96DF6B-E4E8-4C7D-A662-93354127435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6FB5BE0-04D0-49F0-B123-F4751DCED35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AE4B02-3B8F-4765-9D95-37DB3109399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1424160"/>
            <a:ext cx="8227440" cy="77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MTN Ghana Limited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2292840"/>
            <a:ext cx="82274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Web Service &amp; Data Management System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3"/>
          <p:cNvSpPr/>
          <p:nvPr/>
        </p:nvSpPr>
        <p:spPr>
          <a:xfrm>
            <a:off x="2286000" y="2971440"/>
            <a:ext cx="45720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57200" y="3291840"/>
            <a:ext cx="822744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XAMPP · PHP 8.2 · MySQL · REST API · XML/XSLT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1371600" y="572040"/>
            <a:ext cx="571428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GROUP MEMBERS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1. DAVID OPPONG - 052341360049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2. FAUSTINA FINIBAH NELSON - 052241360118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3. ACHEAMPONG ODURO - 052241360093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4. SAMUEL ACKAH - 052241360144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5. BRIGHT AMANKWAH-OPOKU - 052241360116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6. ARHIN STEFANO NYAMEKYE- 052241360143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7. AKUFUL ABENA ZARIA - 052241360044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8. NEHEMIAH FRIMPONG - 052241360141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9. ABRAHAM ADJEI – 052341360011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10. TAKYI HUBERT - 052241360040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1. Purpose &amp; Use of the Project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457200" y="1005840"/>
            <a:ext cx="392976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Purpose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This system shows how a telecom company like MTN Ghana can manage internal data through two distinct web service approaches - a RESTful API and an XML/XSL browser-based data layer.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Why MTN Ghana?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Real context matters. With 28+ million subscribers, actual Ghanaian departments, MoMo products, and live USSD codes, the project feels grounded rather than made-up.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Educational Goal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Every component maps to something you study: REST design, XML/XSLT, PDO, cURL, database schema, and separation of concerns.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4754880" y="1005840"/>
            <a:ext cx="392976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What it is used for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Employee Management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Product Catalogue Management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Subscriber Registration &amp; Lookup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Company Information Display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API Testing via browser console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Offline XML/XSL data viewing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Runs entirely on XAMPP - no cloud account, no paid tools, no internet connection needed.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2. Company Profile - MTN Ghana Limited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" name="Table 0"/>
          <p:cNvGraphicFramePr/>
          <p:nvPr/>
        </p:nvGraphicFramePr>
        <p:xfrm>
          <a:off x="457200" y="960120"/>
          <a:ext cx="8229240" cy="39312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9312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Field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Value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</a:tr>
              <a:tr h="39312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Founded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1994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39312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Headquarters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Accra, Greater Accra Region, Ghana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39312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CEO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Selorm Adadevoh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39312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Subscribers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28+ million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39312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Network Type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4G LTE / 5G (pilot)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39312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Mobile Money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MTN Mobile Money (MoMo)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39312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Stock Exchange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Ghana Stock Exchange (MTNGH)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39312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Parent Company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MTN Group (South Africa)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39312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USSD Codes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*556# Balance  |  *138# Data  |  *170# MoMo  |  100 Customer Care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3. Technology Stack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" name="Table 0"/>
          <p:cNvGraphicFramePr/>
          <p:nvPr/>
        </p:nvGraphicFramePr>
        <p:xfrm>
          <a:off x="457200" y="960120"/>
          <a:ext cx="8229240" cy="393012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4572000"/>
              </a:tblGrid>
              <a:tr h="43668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Component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Version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Role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</a:tr>
              <a:tr h="43668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XAMPP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8.x bundle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Local server bundle - Apache, MySQL, and PHP together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Apache HTTP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2.4.x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Web server routing HTTP requests to PHP scripts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PHP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8.2.12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Server-side scripting: REST API logic and cURL HTTP client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MySQL / MariaDB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10.4.32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Relational database storing all application data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SimpleXML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PHP extension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Parses XML responses from rest_api.php in rest_client.php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XML / XSLT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1.0, UTF-8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Static data files transformed to HTML client-side in the browser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PHP cURL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libcurl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HTTP calls from rest_client.php to rest_api.php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3668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PDO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PHP extension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Database abstraction — prepared statements, no raw SQL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System Architecture - How Components Connect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"/>
          <p:cNvSpPr/>
          <p:nvPr/>
        </p:nvSpPr>
        <p:spPr>
          <a:xfrm>
            <a:off x="1188720" y="914400"/>
            <a:ext cx="25581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REST API Layer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3"/>
          <p:cNvSpPr/>
          <p:nvPr/>
        </p:nvSpPr>
        <p:spPr>
          <a:xfrm>
            <a:off x="5394960" y="914400"/>
            <a:ext cx="255816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XML / XSL Layer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3429000" y="987480"/>
            <a:ext cx="2283840" cy="54648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3429000" y="987480"/>
            <a:ext cx="228384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Web Browser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User entry point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6"/>
          <p:cNvSpPr/>
          <p:nvPr/>
        </p:nvSpPr>
        <p:spPr>
          <a:xfrm>
            <a:off x="3703320" y="1536120"/>
            <a:ext cx="360" cy="29268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7"/>
          <p:cNvSpPr/>
          <p:nvPr/>
        </p:nvSpPr>
        <p:spPr>
          <a:xfrm>
            <a:off x="2468880" y="1828800"/>
            <a:ext cx="1234440" cy="36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8"/>
          <p:cNvSpPr/>
          <p:nvPr/>
        </p:nvSpPr>
        <p:spPr>
          <a:xfrm>
            <a:off x="2468880" y="1828800"/>
            <a:ext cx="360" cy="255960"/>
          </a:xfrm>
          <a:prstGeom prst="line">
            <a:avLst/>
          </a:prstGeom>
          <a:ln w="12700">
            <a:solidFill>
              <a:srgbClr val="777777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457200" y="1572840"/>
            <a:ext cx="18266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REST calls (HTTP)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0"/>
          <p:cNvSpPr/>
          <p:nvPr/>
        </p:nvSpPr>
        <p:spPr>
          <a:xfrm>
            <a:off x="1188720" y="2084760"/>
            <a:ext cx="2558160" cy="564840"/>
          </a:xfrm>
          <a:prstGeom prst="rect">
            <a:avLst/>
          </a:prstGeom>
          <a:solidFill>
            <a:srgbClr val="f5f5f5"/>
          </a:solidFill>
          <a:ln w="9525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1"/>
          <p:cNvSpPr/>
          <p:nvPr/>
        </p:nvSpPr>
        <p:spPr>
          <a:xfrm>
            <a:off x="1188720" y="2084760"/>
            <a:ext cx="255816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rest_client.php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PHP cURL Console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2468880" y="2651760"/>
            <a:ext cx="360" cy="347400"/>
          </a:xfrm>
          <a:prstGeom prst="line">
            <a:avLst/>
          </a:prstGeom>
          <a:ln w="12700">
            <a:solidFill>
              <a:srgbClr val="777777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/>
          <p:cNvSpPr/>
          <p:nvPr/>
        </p:nvSpPr>
        <p:spPr>
          <a:xfrm>
            <a:off x="1731600" y="2697480"/>
            <a:ext cx="2192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HTTP request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4"/>
          <p:cNvSpPr/>
          <p:nvPr/>
        </p:nvSpPr>
        <p:spPr>
          <a:xfrm>
            <a:off x="1188720" y="2999160"/>
            <a:ext cx="2558160" cy="564840"/>
          </a:xfrm>
          <a:prstGeom prst="rect">
            <a:avLst/>
          </a:prstGeom>
          <a:solidFill>
            <a:srgbClr val="f5f5f5"/>
          </a:solidFill>
          <a:ln w="9525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5"/>
          <p:cNvSpPr/>
          <p:nvPr/>
        </p:nvSpPr>
        <p:spPr>
          <a:xfrm>
            <a:off x="1188720" y="2999160"/>
            <a:ext cx="255816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rest_api.php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Router + Handler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6"/>
          <p:cNvSpPr/>
          <p:nvPr/>
        </p:nvSpPr>
        <p:spPr>
          <a:xfrm>
            <a:off x="2468880" y="3566160"/>
            <a:ext cx="360" cy="347400"/>
          </a:xfrm>
          <a:prstGeom prst="line">
            <a:avLst/>
          </a:prstGeom>
          <a:ln w="12700">
            <a:solidFill>
              <a:srgbClr val="777777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7"/>
          <p:cNvSpPr/>
          <p:nvPr/>
        </p:nvSpPr>
        <p:spPr>
          <a:xfrm>
            <a:off x="1803600" y="3611880"/>
            <a:ext cx="21924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PDO query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8"/>
          <p:cNvSpPr/>
          <p:nvPr/>
        </p:nvSpPr>
        <p:spPr>
          <a:xfrm>
            <a:off x="1188720" y="3913560"/>
            <a:ext cx="2558160" cy="65628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9"/>
          <p:cNvSpPr/>
          <p:nvPr/>
        </p:nvSpPr>
        <p:spPr>
          <a:xfrm>
            <a:off x="1188720" y="3913560"/>
            <a:ext cx="25581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MySQL — mtn_ghana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employees · products · subscribers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0"/>
          <p:cNvSpPr/>
          <p:nvPr/>
        </p:nvSpPr>
        <p:spPr>
          <a:xfrm flipV="1">
            <a:off x="1005840" y="2651760"/>
            <a:ext cx="360" cy="347400"/>
          </a:xfrm>
          <a:prstGeom prst="line">
            <a:avLst/>
          </a:prstGeom>
          <a:ln w="12700">
            <a:solidFill>
              <a:srgbClr val="777777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0" y="2743200"/>
            <a:ext cx="1003680" cy="27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5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XML response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5440680" y="1536120"/>
            <a:ext cx="360" cy="29268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3"/>
          <p:cNvSpPr/>
          <p:nvPr/>
        </p:nvSpPr>
        <p:spPr>
          <a:xfrm>
            <a:off x="5440680" y="1828800"/>
            <a:ext cx="1234440" cy="360"/>
          </a:xfrm>
          <a:prstGeom prst="line">
            <a:avLst/>
          </a:prstGeom>
          <a:ln w="12700">
            <a:solidFill>
              <a:srgbClr val="777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4"/>
          <p:cNvSpPr/>
          <p:nvPr/>
        </p:nvSpPr>
        <p:spPr>
          <a:xfrm>
            <a:off x="6675120" y="1828800"/>
            <a:ext cx="360" cy="255960"/>
          </a:xfrm>
          <a:prstGeom prst="line">
            <a:avLst/>
          </a:prstGeom>
          <a:ln w="12700">
            <a:solidFill>
              <a:srgbClr val="777777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5"/>
          <p:cNvSpPr/>
          <p:nvPr/>
        </p:nvSpPr>
        <p:spPr>
          <a:xfrm>
            <a:off x="5669280" y="1572840"/>
            <a:ext cx="18266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XML file open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6"/>
          <p:cNvSpPr/>
          <p:nvPr/>
        </p:nvSpPr>
        <p:spPr>
          <a:xfrm>
            <a:off x="5394960" y="2084760"/>
            <a:ext cx="2558160" cy="656280"/>
          </a:xfrm>
          <a:prstGeom prst="rect">
            <a:avLst/>
          </a:prstGeom>
          <a:solidFill>
            <a:srgbClr val="f5f5f5"/>
          </a:solidFill>
          <a:ln w="9525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7"/>
          <p:cNvSpPr/>
          <p:nvPr/>
        </p:nvSpPr>
        <p:spPr>
          <a:xfrm>
            <a:off x="5394960" y="2084760"/>
            <a:ext cx="25581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XML Data Files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employees / products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subscribers / company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8"/>
          <p:cNvSpPr/>
          <p:nvPr/>
        </p:nvSpPr>
        <p:spPr>
          <a:xfrm>
            <a:off x="6675120" y="2743200"/>
            <a:ext cx="360" cy="347400"/>
          </a:xfrm>
          <a:prstGeom prst="line">
            <a:avLst/>
          </a:prstGeom>
          <a:ln w="12700">
            <a:solidFill>
              <a:srgbClr val="777777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9"/>
          <p:cNvSpPr/>
          <p:nvPr/>
        </p:nvSpPr>
        <p:spPr>
          <a:xfrm>
            <a:off x="5826960" y="2824920"/>
            <a:ext cx="255816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&lt;?xml-stylesheet?&gt;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0"/>
          <p:cNvSpPr/>
          <p:nvPr/>
        </p:nvSpPr>
        <p:spPr>
          <a:xfrm>
            <a:off x="5394960" y="3090600"/>
            <a:ext cx="2558160" cy="656280"/>
          </a:xfrm>
          <a:prstGeom prst="rect">
            <a:avLst/>
          </a:prstGeom>
          <a:solidFill>
            <a:srgbClr val="f5f5f5"/>
          </a:solidFill>
          <a:ln w="9525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1"/>
          <p:cNvSpPr/>
          <p:nvPr/>
        </p:nvSpPr>
        <p:spPr>
          <a:xfrm>
            <a:off x="5394960" y="3090600"/>
            <a:ext cx="255816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XSL Stylesheets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employees / products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subscribers / company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2"/>
          <p:cNvSpPr/>
          <p:nvPr/>
        </p:nvSpPr>
        <p:spPr>
          <a:xfrm>
            <a:off x="6675120" y="3749040"/>
            <a:ext cx="360" cy="347400"/>
          </a:xfrm>
          <a:prstGeom prst="line">
            <a:avLst/>
          </a:prstGeom>
          <a:ln w="12700">
            <a:solidFill>
              <a:srgbClr val="777777"/>
            </a:solidFill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3"/>
          <p:cNvSpPr/>
          <p:nvPr/>
        </p:nvSpPr>
        <p:spPr>
          <a:xfrm>
            <a:off x="5934960" y="3830760"/>
            <a:ext cx="255816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browser XSLT transform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4"/>
          <p:cNvSpPr/>
          <p:nvPr/>
        </p:nvSpPr>
        <p:spPr>
          <a:xfrm>
            <a:off x="5394960" y="4096440"/>
            <a:ext cx="2558160" cy="564840"/>
          </a:xfrm>
          <a:prstGeom prst="rect">
            <a:avLst/>
          </a:prstGeom>
          <a:solidFill>
            <a:srgbClr val="eeeeee"/>
          </a:solidFill>
          <a:ln w="9525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5"/>
          <p:cNvSpPr/>
          <p:nvPr/>
        </p:nvSpPr>
        <p:spPr>
          <a:xfrm>
            <a:off x="5394960" y="4096440"/>
            <a:ext cx="2558160" cy="56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Rendered HTML Page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No server · No PHP · No JS needed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6"/>
          <p:cNvSpPr/>
          <p:nvPr/>
        </p:nvSpPr>
        <p:spPr>
          <a:xfrm>
            <a:off x="3749040" y="4242600"/>
            <a:ext cx="1645920" cy="360"/>
          </a:xfrm>
          <a:prstGeom prst="line">
            <a:avLst/>
          </a:prstGeom>
          <a:ln w="10160">
            <a:solidFill>
              <a:srgbClr val="aaaaaa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7"/>
          <p:cNvSpPr/>
          <p:nvPr/>
        </p:nvSpPr>
        <p:spPr>
          <a:xfrm>
            <a:off x="3749040" y="4060080"/>
            <a:ext cx="164376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same source data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4. Database Design - mtn_ghana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5" name="Table 0"/>
          <p:cNvGraphicFramePr/>
          <p:nvPr/>
        </p:nvGraphicFramePr>
        <p:xfrm>
          <a:off x="457200" y="960120"/>
          <a:ext cx="8229240" cy="393120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468880"/>
              </a:tblGrid>
              <a:tr h="561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Table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Key Columns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Notes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</a:tr>
              <a:tr h="561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company_profile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id, company_name, ceo, network_type, short_codes_json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Single row; USSD codes stored as JSON in TEXT column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561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employees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staff_id (UNIQUE), full_name, department, job_title, salary_ghs, status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status ENUM: active / inactive / on_leave. Index on department.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561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products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product_code (UNIQUE), product_name, category, price_ghs, is_active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category ENUM: voice / data / momo / roaming / device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561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subscribers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msisdn (UNIQUE), full_name, region, id_type, status, created_at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status ENUM: active / suspended / deactivated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561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vw_active_products (view)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product_code, product_name, category, price_ghs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Filters products where is_active = 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561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vw_tech_employees (view)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staff_id, full_name, job_title, email, salary_ghs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Filters employees where department = Technology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5. REST API - Endpoints (17 total)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8" name="Table 0"/>
          <p:cNvGraphicFramePr/>
          <p:nvPr/>
        </p:nvGraphicFramePr>
        <p:xfrm>
          <a:off x="457200" y="960120"/>
          <a:ext cx="8229240" cy="26028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743200"/>
              </a:tblGrid>
              <a:tr h="426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Method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Endpoint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Description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</a:tr>
              <a:tr h="426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GET / POST / PUT / DELETE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/rest_api.php/employees/{staff_id}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List, create, update, delete employees. Filter by ?department= or ?status=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GET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/rest_api.php/employees/dept/{dept}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All employees in a specific department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GET / POST / PUT / DELETE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/rest_api.php/products/{code}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List active products, create, update, delete. Filter by ?category=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GET / POST / PUT / DELETE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/rest_api.php/subscribers/{msisdn}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List, register, update, delete subscribers. Filter by ?region= or ?status=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266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GET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/rest_api.php/company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Company profile and USSD short codes — read only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9" name="Text 2"/>
          <p:cNvSpPr/>
          <p:nvPr/>
        </p:nvSpPr>
        <p:spPr>
          <a:xfrm>
            <a:off x="457200" y="3657600"/>
            <a:ext cx="82274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Response format: 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&lt;response&gt;&lt;status&gt;success&lt;/status&gt;&lt;code&gt;200&lt;/code&gt;&lt;data&gt;...&lt;/data&gt;&lt;/response&gt;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Status codes: 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200 OK  |  201 Created  |  404 Not Found  |  422 Missing Field  |  500 Server Error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6. XML / XSL Data Views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"/>
          <p:cNvSpPr/>
          <p:nvPr/>
        </p:nvSpPr>
        <p:spPr>
          <a:xfrm>
            <a:off x="457200" y="1005840"/>
            <a:ext cx="392976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How it works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Each XML file carries a processing instruction that points to its paired XSL stylesheet. When you open the XML file in a browser, the browser picks up that instruction, grabs the stylesheet, and runs the transformation on the spot - no server, no PHP, no JavaScript involved.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XSLT features used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xsl:for-each + xsl:sort - sorted listings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xsl:choose/xsl:when - status badges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format-number() - salary/price formatting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count() - summary statistics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Muenchian grouping - distinct regions/depts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4754880" y="1005840"/>
            <a:ext cx="392976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File pairs &amp; what they show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employees.xml + employees.xsl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Full directory, Technology dept view, top-5 earners by salary.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products.xml + products.xsl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Card grid + table view + data-plans-only filter.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subscribers.xml + subscribers.xsl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Card and table view with regional summary.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company.xml + company.xsl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Corporate profile and USSD short codes display.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7. Seed Data (pre-loaded in mtn_ghana.sql)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" name="Table 0"/>
          <p:cNvGraphicFramePr/>
          <p:nvPr/>
        </p:nvGraphicFramePr>
        <p:xfrm>
          <a:off x="457200" y="960120"/>
          <a:ext cx="822924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5303520"/>
              </a:tblGrid>
              <a:tr h="4572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Table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Records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Sample Data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</a:tr>
              <a:tr h="4572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employees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9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Technology (4 staff), Finance, Marketing, HR, Legal, Customer Care. Salaries GHS 5,900–9,200.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products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7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Daily 1GB (GHS 3), Weekly 5GB (GHS 20), Monthly 15GB (GHS 70), Voice Bundle, MoMo Wallet (free), Roaming Pack, 4G Router.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subscribers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6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Regions: Greater Accra, Ashanti, Western, Central, Eastern, Volta. ID types: Ghana Card, Voter ID, Passport.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company_profile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1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5960" rIns="75960" tIns="50760" bIns="50760"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Times New Roman"/>
                          <a:ea typeface="Calibri"/>
                        </a:rPr>
                        <a:t>Full MTN Ghana profile. USSD: *556# *138# *170# 100.</a:t>
                      </a:r>
                      <a:endParaRPr b="0" lang="en-US" sz="11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5960" marR="75960" marT="50760" marB="50760">
                    <a:lnL w="6480">
                      <a:solidFill>
                        <a:srgbClr val="aaaaaa"/>
                      </a:solidFill>
                      <a:prstDash val="solid"/>
                    </a:lnL>
                    <a:lnR w="6480">
                      <a:solidFill>
                        <a:srgbClr val="aaaaaa"/>
                      </a:solidFill>
                      <a:prstDash val="solid"/>
                    </a:lnR>
                    <a:lnT w="6480">
                      <a:solidFill>
                        <a:srgbClr val="aaaaaa"/>
                      </a:solidFill>
                      <a:prstDash val="solid"/>
                    </a:lnT>
                    <a:lnB w="6480">
                      <a:solidFill>
                        <a:srgbClr val="aaaaa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7" name="Text 2"/>
          <p:cNvSpPr/>
          <p:nvPr/>
        </p:nvSpPr>
        <p:spPr>
          <a:xfrm>
            <a:off x="457200" y="3383280"/>
            <a:ext cx="82274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Top 3 earners: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Nana Amponsah (Legal) GHS 9,200  |  Kwame Mensah (Tech) GHS 8,500  |  Efua Quaye (Tech) GHS 8,100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Product range: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Free (MoMo Premium Wallet)  to  GHS 350.00 (4G LTE Wi-Fi Router)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8. Installation &amp; Security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457200" y="1005840"/>
            <a:ext cx="392976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Setup Steps (XAMPP)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1. Start Apache and MySQL in XAMPP Control Panel.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2. Open phpMyAdmin → create mtn_ghana DB → import mtn_ghana.sql.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3. Edit php.ini — remove ; from extension=curl.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4. Place all project files in C:\xampp\htdocs\soap_service\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5. Copy all files to htdocs\soap_service\.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6. Restart Apache.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7. Open http://localhost/soap_service/rest_client.php to verify.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4754880" y="1005840"/>
            <a:ext cx="392976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Security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SQL Injection Prevention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All queries go through PDO prepared statements. Nothing from the user ever touches raw SQL - it is always bound as a parameter.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Input Validation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Required fields are checked before every INSERT or UPDATE. Missing ones return HTTP 422 with the field name clearly stated.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Error Handling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cURL errors, empty responses, bad JSON bodies, and database exceptions are all caught and returned as clean, readable error messages.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Database Tables - ERD (Entity Relationship Diagram)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274320" y="960120"/>
            <a:ext cx="1753560" cy="317880"/>
          </a:xfrm>
          <a:prstGeom prst="rect">
            <a:avLst/>
          </a:prstGeom>
          <a:solidFill>
            <a:srgbClr val="222222"/>
          </a:solidFill>
          <a:ln w="9525">
            <a:solidFill>
              <a:srgbClr val="5555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274320" y="960120"/>
            <a:ext cx="1753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compan_profile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4"/>
          <p:cNvSpPr/>
          <p:nvPr/>
        </p:nvSpPr>
        <p:spPr>
          <a:xfrm>
            <a:off x="274320" y="1280160"/>
            <a:ext cx="1753560" cy="226440"/>
          </a:xfrm>
          <a:prstGeom prst="rect">
            <a:avLst/>
          </a:prstGeom>
          <a:solidFill>
            <a:srgbClr val="f2f2f2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329040" y="12801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PK  </a:t>
            </a:r>
            <a:r>
              <a:rPr b="1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id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TINYINT UNSIGNED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6"/>
          <p:cNvSpPr/>
          <p:nvPr/>
        </p:nvSpPr>
        <p:spPr>
          <a:xfrm>
            <a:off x="274320" y="15087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329040" y="15087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company_name: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VARCHAR(150)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274320" y="17373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329040" y="17373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Founded: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VARCHAR(10)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274320" y="19659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329040" y="19659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Headquarters: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VARCHAR(150)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274320" y="21945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329040" y="21945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Ceo: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VARCHAR(120)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4"/>
          <p:cNvSpPr/>
          <p:nvPr/>
        </p:nvSpPr>
        <p:spPr>
          <a:xfrm>
            <a:off x="274320" y="24231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329040" y="24231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Subscribers: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VARCHAR(50)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274320" y="26517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329040" y="26517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network_type: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VARCHAR(80)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8"/>
          <p:cNvSpPr/>
          <p:nvPr/>
        </p:nvSpPr>
        <p:spPr>
          <a:xfrm>
            <a:off x="274320" y="28803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329040" y="28803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momo_service: 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VARCHAR(120)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0"/>
          <p:cNvSpPr/>
          <p:nvPr/>
        </p:nvSpPr>
        <p:spPr>
          <a:xfrm>
            <a:off x="228600" y="3108960"/>
            <a:ext cx="203724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329040" y="31089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stock_exchange: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VARCHAR(80)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22"/>
          <p:cNvSpPr/>
          <p:nvPr/>
        </p:nvSpPr>
        <p:spPr>
          <a:xfrm>
            <a:off x="274320" y="33375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329040" y="33375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Website: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VARCHAR(255)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4"/>
          <p:cNvSpPr/>
          <p:nvPr/>
        </p:nvSpPr>
        <p:spPr>
          <a:xfrm>
            <a:off x="274320" y="35661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329040" y="35661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short_codes_json: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TEXT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26"/>
          <p:cNvSpPr/>
          <p:nvPr/>
        </p:nvSpPr>
        <p:spPr>
          <a:xfrm>
            <a:off x="2267640" y="960120"/>
            <a:ext cx="1753560" cy="317880"/>
          </a:xfrm>
          <a:prstGeom prst="rect">
            <a:avLst/>
          </a:prstGeom>
          <a:solidFill>
            <a:srgbClr val="222222"/>
          </a:solidFill>
          <a:ln w="9525">
            <a:solidFill>
              <a:srgbClr val="5555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7"/>
          <p:cNvSpPr/>
          <p:nvPr/>
        </p:nvSpPr>
        <p:spPr>
          <a:xfrm>
            <a:off x="2267640" y="960120"/>
            <a:ext cx="1753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employees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8"/>
          <p:cNvSpPr/>
          <p:nvPr/>
        </p:nvSpPr>
        <p:spPr>
          <a:xfrm>
            <a:off x="2267640" y="1280160"/>
            <a:ext cx="1753560" cy="226440"/>
          </a:xfrm>
          <a:prstGeom prst="rect">
            <a:avLst/>
          </a:prstGeom>
          <a:solidFill>
            <a:srgbClr val="f2f2f2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9"/>
          <p:cNvSpPr/>
          <p:nvPr/>
        </p:nvSpPr>
        <p:spPr>
          <a:xfrm>
            <a:off x="2322720" y="12801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PK  </a:t>
            </a:r>
            <a:r>
              <a:rPr b="1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id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INT UNSIGNED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30"/>
          <p:cNvSpPr/>
          <p:nvPr/>
        </p:nvSpPr>
        <p:spPr>
          <a:xfrm>
            <a:off x="2267640" y="15087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1"/>
          <p:cNvSpPr/>
          <p:nvPr/>
        </p:nvSpPr>
        <p:spPr>
          <a:xfrm>
            <a:off x="2322720" y="15087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staff_id: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VARCHAR(15)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2"/>
          <p:cNvSpPr/>
          <p:nvPr/>
        </p:nvSpPr>
        <p:spPr>
          <a:xfrm>
            <a:off x="2267640" y="17373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33"/>
          <p:cNvSpPr/>
          <p:nvPr/>
        </p:nvSpPr>
        <p:spPr>
          <a:xfrm>
            <a:off x="2322720" y="17373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full_name: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VARCHAR(120)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34"/>
          <p:cNvSpPr/>
          <p:nvPr/>
        </p:nvSpPr>
        <p:spPr>
          <a:xfrm>
            <a:off x="2267640" y="19659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5"/>
          <p:cNvSpPr/>
          <p:nvPr/>
        </p:nvSpPr>
        <p:spPr>
          <a:xfrm>
            <a:off x="2322720" y="19659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Department: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VARCHAR(80)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6"/>
          <p:cNvSpPr/>
          <p:nvPr/>
        </p:nvSpPr>
        <p:spPr>
          <a:xfrm>
            <a:off x="2267640" y="21945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37"/>
          <p:cNvSpPr/>
          <p:nvPr/>
        </p:nvSpPr>
        <p:spPr>
          <a:xfrm>
            <a:off x="2322720" y="21945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job_title: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VARCHAR(80)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38"/>
          <p:cNvSpPr/>
          <p:nvPr/>
        </p:nvSpPr>
        <p:spPr>
          <a:xfrm>
            <a:off x="2267640" y="24231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9"/>
          <p:cNvSpPr/>
          <p:nvPr/>
        </p:nvSpPr>
        <p:spPr>
          <a:xfrm>
            <a:off x="2322720" y="24231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Email: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VARCHAR(120)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0"/>
          <p:cNvSpPr/>
          <p:nvPr/>
        </p:nvSpPr>
        <p:spPr>
          <a:xfrm>
            <a:off x="2267640" y="26517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1"/>
          <p:cNvSpPr/>
          <p:nvPr/>
        </p:nvSpPr>
        <p:spPr>
          <a:xfrm>
            <a:off x="2322720" y="26517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Phone: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VARCHAR(15)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2"/>
          <p:cNvSpPr/>
          <p:nvPr/>
        </p:nvSpPr>
        <p:spPr>
          <a:xfrm>
            <a:off x="2267640" y="28803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3"/>
          <p:cNvSpPr/>
          <p:nvPr/>
        </p:nvSpPr>
        <p:spPr>
          <a:xfrm>
            <a:off x="2322720" y="28803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salary_ghs: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DECIMAL(10,2)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4"/>
          <p:cNvSpPr/>
          <p:nvPr/>
        </p:nvSpPr>
        <p:spPr>
          <a:xfrm>
            <a:off x="2267640" y="31089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45"/>
          <p:cNvSpPr/>
          <p:nvPr/>
        </p:nvSpPr>
        <p:spPr>
          <a:xfrm>
            <a:off x="2322720" y="31089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hire_date: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DATE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46"/>
          <p:cNvSpPr/>
          <p:nvPr/>
        </p:nvSpPr>
        <p:spPr>
          <a:xfrm>
            <a:off x="2267640" y="33375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7"/>
          <p:cNvSpPr/>
          <p:nvPr/>
        </p:nvSpPr>
        <p:spPr>
          <a:xfrm>
            <a:off x="2322720" y="33375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Status: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ENUM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48"/>
          <p:cNvSpPr/>
          <p:nvPr/>
        </p:nvSpPr>
        <p:spPr>
          <a:xfrm>
            <a:off x="4260960" y="960120"/>
            <a:ext cx="1753560" cy="317880"/>
          </a:xfrm>
          <a:prstGeom prst="rect">
            <a:avLst/>
          </a:prstGeom>
          <a:solidFill>
            <a:srgbClr val="222222"/>
          </a:solidFill>
          <a:ln w="9525">
            <a:solidFill>
              <a:srgbClr val="5555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9"/>
          <p:cNvSpPr/>
          <p:nvPr/>
        </p:nvSpPr>
        <p:spPr>
          <a:xfrm>
            <a:off x="4260960" y="960120"/>
            <a:ext cx="1753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products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50"/>
          <p:cNvSpPr/>
          <p:nvPr/>
        </p:nvSpPr>
        <p:spPr>
          <a:xfrm>
            <a:off x="4260960" y="1280160"/>
            <a:ext cx="1753560" cy="226440"/>
          </a:xfrm>
          <a:prstGeom prst="rect">
            <a:avLst/>
          </a:prstGeom>
          <a:solidFill>
            <a:srgbClr val="f2f2f2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51"/>
          <p:cNvSpPr/>
          <p:nvPr/>
        </p:nvSpPr>
        <p:spPr>
          <a:xfrm>
            <a:off x="4316040" y="12801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PK  </a:t>
            </a:r>
            <a:r>
              <a:rPr b="1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id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INT UNSIGNED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52"/>
          <p:cNvSpPr/>
          <p:nvPr/>
        </p:nvSpPr>
        <p:spPr>
          <a:xfrm>
            <a:off x="4260960" y="15087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3"/>
          <p:cNvSpPr/>
          <p:nvPr/>
        </p:nvSpPr>
        <p:spPr>
          <a:xfrm>
            <a:off x="4316040" y="15087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product_code: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VARCHAR(30)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54"/>
          <p:cNvSpPr/>
          <p:nvPr/>
        </p:nvSpPr>
        <p:spPr>
          <a:xfrm>
            <a:off x="4260960" y="17373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55"/>
          <p:cNvSpPr/>
          <p:nvPr/>
        </p:nvSpPr>
        <p:spPr>
          <a:xfrm>
            <a:off x="4316040" y="17373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product_name: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VARCHAR(100)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56"/>
          <p:cNvSpPr/>
          <p:nvPr/>
        </p:nvSpPr>
        <p:spPr>
          <a:xfrm>
            <a:off x="4260960" y="19659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7"/>
          <p:cNvSpPr/>
          <p:nvPr/>
        </p:nvSpPr>
        <p:spPr>
          <a:xfrm>
            <a:off x="4316040" y="19659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Category: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ENUM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8"/>
          <p:cNvSpPr/>
          <p:nvPr/>
        </p:nvSpPr>
        <p:spPr>
          <a:xfrm>
            <a:off x="4260960" y="21945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59"/>
          <p:cNvSpPr/>
          <p:nvPr/>
        </p:nvSpPr>
        <p:spPr>
          <a:xfrm>
            <a:off x="4316040" y="21945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price_ghs: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DECIMAL(8,2)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60"/>
          <p:cNvSpPr/>
          <p:nvPr/>
        </p:nvSpPr>
        <p:spPr>
          <a:xfrm>
            <a:off x="4260960" y="24231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1"/>
          <p:cNvSpPr/>
          <p:nvPr/>
        </p:nvSpPr>
        <p:spPr>
          <a:xfrm>
            <a:off x="4316040" y="24231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Description: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VARCHAR(255)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62"/>
          <p:cNvSpPr/>
          <p:nvPr/>
        </p:nvSpPr>
        <p:spPr>
          <a:xfrm>
            <a:off x="4260960" y="26517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63"/>
          <p:cNvSpPr/>
          <p:nvPr/>
        </p:nvSpPr>
        <p:spPr>
          <a:xfrm>
            <a:off x="4316040" y="26517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is_active: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TINYINT(1)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4"/>
          <p:cNvSpPr/>
          <p:nvPr/>
        </p:nvSpPr>
        <p:spPr>
          <a:xfrm>
            <a:off x="6254640" y="960120"/>
            <a:ext cx="1753560" cy="317880"/>
          </a:xfrm>
          <a:prstGeom prst="rect">
            <a:avLst/>
          </a:prstGeom>
          <a:solidFill>
            <a:srgbClr val="222222"/>
          </a:solidFill>
          <a:ln w="9525">
            <a:solidFill>
              <a:srgbClr val="5555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5"/>
          <p:cNvSpPr/>
          <p:nvPr/>
        </p:nvSpPr>
        <p:spPr>
          <a:xfrm>
            <a:off x="6254640" y="960120"/>
            <a:ext cx="175356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subscribers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66"/>
          <p:cNvSpPr/>
          <p:nvPr/>
        </p:nvSpPr>
        <p:spPr>
          <a:xfrm>
            <a:off x="6254640" y="1280160"/>
            <a:ext cx="1753560" cy="226440"/>
          </a:xfrm>
          <a:prstGeom prst="rect">
            <a:avLst/>
          </a:prstGeom>
          <a:solidFill>
            <a:srgbClr val="f2f2f2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67"/>
          <p:cNvSpPr/>
          <p:nvPr/>
        </p:nvSpPr>
        <p:spPr>
          <a:xfrm>
            <a:off x="6309360" y="12801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PK  </a:t>
            </a:r>
            <a:r>
              <a:rPr b="1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id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INT UNSIGNED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68"/>
          <p:cNvSpPr/>
          <p:nvPr/>
        </p:nvSpPr>
        <p:spPr>
          <a:xfrm>
            <a:off x="6254640" y="15087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69"/>
          <p:cNvSpPr/>
          <p:nvPr/>
        </p:nvSpPr>
        <p:spPr>
          <a:xfrm>
            <a:off x="6309360" y="15087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Msisdn: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VARCHAR(15)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70"/>
          <p:cNvSpPr/>
          <p:nvPr/>
        </p:nvSpPr>
        <p:spPr>
          <a:xfrm>
            <a:off x="6254640" y="17373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1"/>
          <p:cNvSpPr/>
          <p:nvPr/>
        </p:nvSpPr>
        <p:spPr>
          <a:xfrm>
            <a:off x="6309360" y="17373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full_name: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VARCHAR(120)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72"/>
          <p:cNvSpPr/>
          <p:nvPr/>
        </p:nvSpPr>
        <p:spPr>
          <a:xfrm>
            <a:off x="6254640" y="19659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73"/>
          <p:cNvSpPr/>
          <p:nvPr/>
        </p:nvSpPr>
        <p:spPr>
          <a:xfrm>
            <a:off x="6309360" y="19659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Region: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VARCHAR(60)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4"/>
          <p:cNvSpPr/>
          <p:nvPr/>
        </p:nvSpPr>
        <p:spPr>
          <a:xfrm>
            <a:off x="6254640" y="21945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75"/>
          <p:cNvSpPr/>
          <p:nvPr/>
        </p:nvSpPr>
        <p:spPr>
          <a:xfrm>
            <a:off x="6309360" y="21945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id_type: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VARCHAR(30)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76"/>
          <p:cNvSpPr/>
          <p:nvPr/>
        </p:nvSpPr>
        <p:spPr>
          <a:xfrm>
            <a:off x="6254640" y="24231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77"/>
          <p:cNvSpPr/>
          <p:nvPr/>
        </p:nvSpPr>
        <p:spPr>
          <a:xfrm>
            <a:off x="6309360" y="24231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Status: 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ENUM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78"/>
          <p:cNvSpPr/>
          <p:nvPr/>
        </p:nvSpPr>
        <p:spPr>
          <a:xfrm>
            <a:off x="6254640" y="2651760"/>
            <a:ext cx="1753560" cy="226440"/>
          </a:xfrm>
          <a:prstGeom prst="rect">
            <a:avLst/>
          </a:prstGeom>
          <a:solidFill>
            <a:srgbClr val="fafafa"/>
          </a:solidFill>
          <a:ln w="5080">
            <a:solidFill>
              <a:srgbClr val="bbbbb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79"/>
          <p:cNvSpPr/>
          <p:nvPr/>
        </p:nvSpPr>
        <p:spPr>
          <a:xfrm>
            <a:off x="6309360" y="2651760"/>
            <a:ext cx="1698480" cy="2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    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created_at:</a:t>
            </a: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 DATETIME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80"/>
          <p:cNvSpPr/>
          <p:nvPr/>
        </p:nvSpPr>
        <p:spPr>
          <a:xfrm>
            <a:off x="2267640" y="4407480"/>
            <a:ext cx="1753560" cy="455040"/>
          </a:xfrm>
          <a:prstGeom prst="rect">
            <a:avLst/>
          </a:prstGeom>
          <a:solidFill>
            <a:srgbClr val="f0f0f0"/>
          </a:solidFill>
          <a:ln w="6350">
            <a:solidFill>
              <a:srgbClr val="999999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81"/>
          <p:cNvSpPr/>
          <p:nvPr/>
        </p:nvSpPr>
        <p:spPr>
          <a:xfrm>
            <a:off x="2267640" y="4407480"/>
            <a:ext cx="1753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vw_tech_employees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VIEW — Technology dept only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82"/>
          <p:cNvSpPr/>
          <p:nvPr/>
        </p:nvSpPr>
        <p:spPr>
          <a:xfrm>
            <a:off x="4260960" y="4407480"/>
            <a:ext cx="1753560" cy="455040"/>
          </a:xfrm>
          <a:prstGeom prst="rect">
            <a:avLst/>
          </a:prstGeom>
          <a:solidFill>
            <a:srgbClr val="f0f0f0"/>
          </a:solidFill>
          <a:ln w="6350">
            <a:solidFill>
              <a:srgbClr val="999999"/>
            </a:solidFill>
            <a:prstDash val="sys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83"/>
          <p:cNvSpPr/>
          <p:nvPr/>
        </p:nvSpPr>
        <p:spPr>
          <a:xfrm>
            <a:off x="4260960" y="4407480"/>
            <a:ext cx="175356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9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vw_active_products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VIEW — active products only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84"/>
          <p:cNvSpPr/>
          <p:nvPr/>
        </p:nvSpPr>
        <p:spPr>
          <a:xfrm>
            <a:off x="3145320" y="3566160"/>
            <a:ext cx="360" cy="840960"/>
          </a:xfrm>
          <a:prstGeom prst="line">
            <a:avLst/>
          </a:prstGeom>
          <a:ln w="7620">
            <a:solidFill>
              <a:srgbClr val="aaaaaa"/>
            </a:solidFill>
            <a:prstDash val="dash"/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85"/>
          <p:cNvSpPr/>
          <p:nvPr/>
        </p:nvSpPr>
        <p:spPr>
          <a:xfrm>
            <a:off x="5138640" y="2880360"/>
            <a:ext cx="360" cy="1526760"/>
          </a:xfrm>
          <a:prstGeom prst="line">
            <a:avLst/>
          </a:prstGeom>
          <a:ln w="7620">
            <a:solidFill>
              <a:srgbClr val="aaaaaa"/>
            </a:solidFill>
            <a:prstDash val="dash"/>
            <a:round/>
            <a:tailEnd len="med" type="arrow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87"/>
          <p:cNvSpPr/>
          <p:nvPr/>
        </p:nvSpPr>
        <p:spPr>
          <a:xfrm>
            <a:off x="8121600" y="997200"/>
            <a:ext cx="9126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PK = Primary Key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88"/>
          <p:cNvSpPr/>
          <p:nvPr/>
        </p:nvSpPr>
        <p:spPr>
          <a:xfrm>
            <a:off x="8138160" y="1261800"/>
            <a:ext cx="320040" cy="360"/>
          </a:xfrm>
          <a:prstGeom prst="line">
            <a:avLst/>
          </a:prstGeom>
          <a:ln w="10160">
            <a:solidFill>
              <a:srgbClr val="555555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89"/>
          <p:cNvSpPr/>
          <p:nvPr/>
        </p:nvSpPr>
        <p:spPr>
          <a:xfrm>
            <a:off x="8485560" y="1179720"/>
            <a:ext cx="118656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555555"/>
                </a:solidFill>
                <a:effectLst/>
                <a:uFillTx/>
                <a:latin typeface="Calibri"/>
                <a:ea typeface="Calibri"/>
              </a:rPr>
              <a:t>= View link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57200" y="228600"/>
            <a:ext cx="8227440" cy="5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9. Summary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1"/>
          <p:cNvSpPr/>
          <p:nvPr/>
        </p:nvSpPr>
        <p:spPr>
          <a:xfrm>
            <a:off x="457200" y="868680"/>
            <a:ext cx="8229600" cy="360"/>
          </a:xfrm>
          <a:prstGeom prst="line">
            <a:avLst/>
          </a:prstGeom>
          <a:ln w="1270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"/>
          <p:cNvSpPr/>
          <p:nvPr/>
        </p:nvSpPr>
        <p:spPr>
          <a:xfrm>
            <a:off x="457200" y="1005840"/>
            <a:ext cx="392976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What was built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A full data management system for MTN Ghana running locally on XAMPP - REST API, XML/XSL browser views, MySQL database, and an interactive test console, all tied together.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Key numbers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17 REST endpoints across 4 resources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4 XML/XSL file pairs for browser viewing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4 database tables + 2 views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9 employees, 7 products, 6 subscribers pre-loaded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754880" y="1005840"/>
            <a:ext cx="3929760" cy="38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Technologies covered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PHP 8.2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MySQL / MariaDB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RESTful API design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XML &amp; XSLT 1.0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PDO prepared statements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PHP cURL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• XAMPP / Apache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Calibri"/>
              </a:rPr>
              <a:t>http://localhost/soap_service/rest_client.php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333333"/>
      </a:dk2>
      <a:lt2>
        <a:srgbClr val="f5f5f5"/>
      </a:lt2>
      <a:accent1>
        <a:srgbClr val="333333"/>
      </a:accent1>
      <a:accent2>
        <a:srgbClr val="555555"/>
      </a:accent2>
      <a:accent3>
        <a:srgbClr val="444444"/>
      </a:accent3>
      <a:accent4>
        <a:srgbClr val="666666"/>
      </a:accent4>
      <a:accent5>
        <a:srgbClr val="777777"/>
      </a:accent5>
      <a:accent6>
        <a:srgbClr val="888888"/>
      </a:accent6>
      <a:hlink>
        <a:srgbClr val="1a1a1a"/>
      </a:hlink>
      <a:folHlink>
        <a:srgbClr val="555555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LibreOffice/25.8.3.2$Linux_X86_64 LibreOffice_project/8ca8d55c161d602844f5428fa4b58097424e324e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2026-03-16T19:05:25Z</dcterms:created>
  <dc:creator>PptxGenJS</dc:creator>
  <dc:description/>
  <dc:language>en-US</dc:language>
  <cp:lastModifiedBy/>
  <dcterms:modified xsi:type="dcterms:W3CDTF">2026-03-21T14:36:07Z</dcterms:modified>
  <cp:revision>8</cp:revision>
  <dc:subject>PptxGenJS Presentation</dc:subject>
  <dc:title>MTN Ghana — Editable Diagrams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